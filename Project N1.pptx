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1803-6124-8E95-55B1-A2629DF94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E2300-2457-907E-6F5F-A81432DB3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8B890-6189-5F11-2FEC-2A9BA239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7343E-0765-0DA0-24FA-C0BBE964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70918-BF28-31EE-F05C-0E67B4AA8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3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5160-ECFF-2ADA-B25E-E9955A9DD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B7F8A-E22C-F041-D3D9-EEE41BF7F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44C4E-A593-F849-1F21-D4F6C8E88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17C09-1BBF-C0D1-D4FE-221142AA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58CB5-8EDF-F968-38E1-D8AAE058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6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DE77-0CD0-FDED-1F26-FDF481534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AC975-B99C-4782-5A65-5481E7FEC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2AF57-B78C-0572-25F0-864DC1C1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D304C-A41E-B192-95E5-59EB1D126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F587B-D3A0-EFDF-A7AC-526D15D8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6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70D15-DF2A-F320-B990-D99CDD214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1606A-0BEC-5C13-1347-27AAA4DB0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C8CB2-FA96-281C-C43F-A894BBB90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22628-B12A-F09F-AF5E-F8116087F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C0E3E-0158-85D2-E4B3-A7F7F9239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DEACE-EEF7-0EF5-5C51-102590E28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770A5-4073-A176-AF18-0D69FB6FC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93ED7-E949-42C5-8D85-FEE3EEC3E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E84D1-5198-445C-DE37-A03FF5DDF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6BFA44-17E7-7D7E-A7EF-9B43B74E6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44B93-C422-4076-11E5-9DBC142E9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2391F-1812-CE2D-CD90-76AFB6363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93B398-0E0A-968C-1D71-8A202AD5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3C150E-6563-512A-15B5-B841D26A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8961-7589-73C4-9762-29209731A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9FD6A-D43A-DA60-3475-E989BEB7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89C1B-718B-E882-20B9-9538D54B1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9CB5E-C58F-912B-9E98-7E5E85BA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0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7728DE-6BD3-B1CD-789F-DB556DBF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1E848-0D4D-84E7-9D00-DE86AAE10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0F918-610E-709E-4737-626E5BC0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1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3182-7046-5275-C373-58DAB134B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6319B-1C68-E334-CF3A-3B73BCE3B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72230-2023-7D03-0F4D-7F0C14E7A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03676-B3A2-9F97-E7F2-E0BBC0C37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A6F93-4D36-BCDE-1CC0-BC2D38E7B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33ACB-57FA-634F-975D-96D6FBA76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1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FC7F-AA4A-672B-E729-FF985E3CA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B90DB-624A-9D20-8B57-B0A77060F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9156F-454A-22E3-03BA-FAE4FE310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2406C-8D9B-3B5D-9074-F09B9725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5AC63-A451-0285-77D5-37331D9B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BA449-8E99-D29E-03B2-4F6BD78E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87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D0E3-FEE6-FBC5-CB67-73DF4D84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3B461-8016-1F9F-0601-014391E74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A3FCA-E8A1-B245-AF52-FD7677126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2AC3-45EF-541C-EDFC-E67AF851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56A3B-B13E-8487-0714-6C67E728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27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5C9940-B985-A1DF-93FA-F3C0FEC42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168B1-DFF7-C034-136B-248121C22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56680-006F-5607-18B7-966B06C3B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3AF83-8F7E-D2B6-3766-16F3F55A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359BE-9AB4-9F04-2768-78CA1F3E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6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8388B-EE5B-64C1-F9DC-40558A138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2F295-CF38-7E1A-D27B-20A8DC3EE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787DA-5F18-1774-3603-0CC18E7EA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9E59C-E7D4-47E5-BAC0-DAE044DA7E1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DB8F8-7430-9E68-F575-8A0C1F151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FCE0B-029C-31EF-CA1D-CA36ED9FB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C5D9EE-A0DE-4C4D-9B82-21DB08E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27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6681-41C3-C3CC-9BAF-BAFF32E3A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2847"/>
            <a:ext cx="9144000" cy="1015953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r>
              <a:rPr lang="es-PE" b="1" dirty="0">
                <a:solidFill>
                  <a:schemeClr val="bg1"/>
                </a:solidFill>
              </a:rPr>
              <a:t>CarlosFloresDA Project #1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F24FE6-1A19-5B51-E54C-12660ECE8EBD}"/>
              </a:ext>
            </a:extLst>
          </p:cNvPr>
          <p:cNvSpPr txBox="1">
            <a:spLocks/>
          </p:cNvSpPr>
          <p:nvPr/>
        </p:nvSpPr>
        <p:spPr>
          <a:xfrm>
            <a:off x="1142999" y="2433568"/>
            <a:ext cx="9906001" cy="1210585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solidFill>
                  <a:schemeClr val="bg1"/>
                </a:solidFill>
              </a:rPr>
              <a:t>Employee Attrition Analysis – HR</a:t>
            </a:r>
            <a:endParaRPr lang="es-PE" sz="48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Excel + PivotTables + Dashboard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86C8F1-CF93-8A8C-1477-3ECC1EEE3B18}"/>
              </a:ext>
            </a:extLst>
          </p:cNvPr>
          <p:cNvSpPr txBox="1">
            <a:spLocks/>
          </p:cNvSpPr>
          <p:nvPr/>
        </p:nvSpPr>
        <p:spPr>
          <a:xfrm>
            <a:off x="560297" y="5829301"/>
            <a:ext cx="4437730" cy="610066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sz="3200" b="1" dirty="0" err="1">
                <a:solidFill>
                  <a:schemeClr val="bg1"/>
                </a:solidFill>
              </a:rPr>
              <a:t>By</a:t>
            </a:r>
            <a:r>
              <a:rPr lang="es-PE" sz="3200" b="1" dirty="0">
                <a:solidFill>
                  <a:schemeClr val="bg1"/>
                </a:solidFill>
              </a:rPr>
              <a:t>: Carlos Flores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55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A89E-BA86-0D3D-77F8-0C6F383E1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EE0B0-874F-85D2-F005-893797C1D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073" y="345256"/>
            <a:ext cx="6310745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>
                <a:solidFill>
                  <a:schemeClr val="bg1"/>
                </a:solidFill>
              </a:rPr>
              <a:t>Project </a:t>
            </a:r>
            <a:r>
              <a:rPr lang="es-PE" sz="4400" dirty="0" err="1">
                <a:solidFill>
                  <a:schemeClr val="bg1"/>
                </a:solidFill>
              </a:rPr>
              <a:t>Objective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CBD4C32-555B-34DB-073D-43B6ACBD8367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solidFill>
                  <a:schemeClr val="bg1"/>
                </a:solidFill>
              </a:rPr>
              <a:t>Goal: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To identify the factors that explain employee attrition and build an interactive dashboard in Excel that allows analysis of: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Who is resigning?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Why are they resigning?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Which variables most influence attrition?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What patterns are observed in revenue, WLB, overtime, roles, etc.?</a:t>
            </a: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Outcome: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Professional dashboard + actionable insights for HR.</a:t>
            </a:r>
          </a:p>
        </p:txBody>
      </p:sp>
    </p:spTree>
    <p:extLst>
      <p:ext uri="{BB962C8B-B14F-4D97-AF65-F5344CB8AC3E}">
        <p14:creationId xmlns:p14="http://schemas.microsoft.com/office/powerpoint/2010/main" val="2524339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87A9-A199-3879-D1E2-B6A97D65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6010-BE30-9A32-FA3E-EF7603722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073" y="345256"/>
            <a:ext cx="6310745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>
                <a:solidFill>
                  <a:schemeClr val="bg1"/>
                </a:solidFill>
              </a:rPr>
              <a:t>Business </a:t>
            </a:r>
            <a:r>
              <a:rPr lang="es-PE" sz="4400" dirty="0" err="1">
                <a:solidFill>
                  <a:schemeClr val="bg1"/>
                </a:solidFill>
              </a:rPr>
              <a:t>Problem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787A76B-F9E8-BEF8-2188-CE1A184C2280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solidFill>
                  <a:schemeClr val="bg1"/>
                </a:solidFill>
              </a:rPr>
              <a:t>The company experiences a significant level of employee turnover.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This results in: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Replacement costs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Loss of talent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Impact on productivity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Operational risks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Need: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Identify the main drivers of attrition to make informed decisions</a:t>
            </a:r>
          </a:p>
        </p:txBody>
      </p:sp>
    </p:spTree>
    <p:extLst>
      <p:ext uri="{BB962C8B-B14F-4D97-AF65-F5344CB8AC3E}">
        <p14:creationId xmlns:p14="http://schemas.microsoft.com/office/powerpoint/2010/main" val="3949654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A4C4B-D6C8-D812-FBD9-B7BF952C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44FAB-9B5E-8FC9-FAD8-B0E0EE3F2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073" y="345256"/>
            <a:ext cx="6310745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 err="1">
                <a:solidFill>
                  <a:schemeClr val="bg1"/>
                </a:solidFill>
              </a:rPr>
              <a:t>Dataset</a:t>
            </a:r>
            <a:r>
              <a:rPr lang="es-PE" sz="4400" dirty="0">
                <a:solidFill>
                  <a:schemeClr val="bg1"/>
                </a:solidFill>
              </a:rPr>
              <a:t> Used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B168EA7-ADA0-6047-816D-13AC9248CAFA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solidFill>
                  <a:schemeClr val="bg1"/>
                </a:solidFill>
              </a:rPr>
              <a:t>Dataset used: Adapted version of the IBM HR Analytics Employee Attrition Dataset.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Number of records:≈ 1,470 employees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Main columns included:</a:t>
            </a: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Note: 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This dataset was reorganized to facilitate analysis, but maintains the structure and purpose of the original dataset.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1B7FAE-A377-B86C-917C-B7AFA56A8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618727"/>
              </p:ext>
            </p:extLst>
          </p:nvPr>
        </p:nvGraphicFramePr>
        <p:xfrm>
          <a:off x="1008530" y="2494828"/>
          <a:ext cx="1013235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5923">
                  <a:extLst>
                    <a:ext uri="{9D8B030D-6E8A-4147-A177-3AD203B41FA5}">
                      <a16:colId xmlns:a16="http://schemas.microsoft.com/office/drawing/2014/main" val="2905040849"/>
                    </a:ext>
                  </a:extLst>
                </a:gridCol>
                <a:gridCol w="5056435">
                  <a:extLst>
                    <a:ext uri="{9D8B030D-6E8A-4147-A177-3AD203B41FA5}">
                      <a16:colId xmlns:a16="http://schemas.microsoft.com/office/drawing/2014/main" val="4154399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Demographics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Marital Status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bg1"/>
                          </a:solidFill>
                        </a:rPr>
                        <a:t>CF_age</a:t>
                      </a: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 band</a:t>
                      </a:r>
                    </a:p>
                    <a:p>
                      <a:pPr algn="l"/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Employment data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Department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Job Role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Job Level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Monthly Income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Monthly Rate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Daily Rate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Hourly Rate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 err="1">
                          <a:solidFill>
                            <a:schemeClr val="bg1"/>
                          </a:solidFill>
                        </a:rPr>
                        <a:t>OverTime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Business Travel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Total Working Years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Years At Company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Years In Current Role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Years Since Last Promotion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Years With Current Manager</a:t>
                      </a:r>
                    </a:p>
                    <a:p>
                      <a:endParaRPr lang="en-US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Satisfaction (scales 1–4)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Job Satisfaction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Work-Life Balance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Relationship Satisfaction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Environment Satisfaction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Job Involvement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Variables created (CF_)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 err="1">
                          <a:solidFill>
                            <a:schemeClr val="bg1"/>
                          </a:solidFill>
                        </a:rPr>
                        <a:t>CF_attrition</a:t>
                      </a: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 label (Current vs Ex-Employees)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 err="1">
                          <a:solidFill>
                            <a:schemeClr val="bg1"/>
                          </a:solidFill>
                        </a:rPr>
                        <a:t>CF_attrition</a:t>
                      </a: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 count (1/0)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 err="1">
                          <a:solidFill>
                            <a:schemeClr val="bg1"/>
                          </a:solidFill>
                        </a:rPr>
                        <a:t>CF_attrition</a:t>
                      </a: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 rate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 err="1">
                          <a:solidFill>
                            <a:schemeClr val="bg1"/>
                          </a:solidFill>
                        </a:rPr>
                        <a:t>CF_current</a:t>
                      </a: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 employee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 err="1">
                          <a:solidFill>
                            <a:schemeClr val="bg1"/>
                          </a:solidFill>
                        </a:rPr>
                        <a:t>CF_age</a:t>
                      </a: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 band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Target Variable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Attrition (Yes/No)</a:t>
                      </a:r>
                    </a:p>
                    <a:p>
                      <a:endParaRPr lang="en-US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979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1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C876-2FCF-9F93-BCA7-CC92DCA9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F5B0-8263-A5F3-4C8D-E7CEC3DC4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073" y="345256"/>
            <a:ext cx="6310745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>
                <a:solidFill>
                  <a:schemeClr val="bg1"/>
                </a:solidFill>
              </a:rPr>
              <a:t>Data </a:t>
            </a:r>
            <a:r>
              <a:rPr lang="es-PE" sz="4400" dirty="0" err="1">
                <a:solidFill>
                  <a:schemeClr val="bg1"/>
                </a:solidFill>
              </a:rPr>
              <a:t>Preparation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76F085-63C8-B5A9-5460-FC5A02D22481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solidFill>
                  <a:schemeClr val="bg1"/>
                </a:solidFill>
              </a:rPr>
              <a:t>Actions performed in Excel: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Column cleaning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Data type validation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Conversion of Attrition to 1/0 variables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Creation of CF_ metrics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Grouping of Monthly Income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Review of 1–4 scales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Normalization of categories (Travel, Education Field, etc.).</a:t>
            </a:r>
          </a:p>
        </p:txBody>
      </p:sp>
    </p:spTree>
    <p:extLst>
      <p:ext uri="{BB962C8B-B14F-4D97-AF65-F5344CB8AC3E}">
        <p14:creationId xmlns:p14="http://schemas.microsoft.com/office/powerpoint/2010/main" val="223479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D9AD-2FFA-AB9B-0687-628BB1207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B7B0D-4CE7-6B42-D6AE-09F36BF5E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9688" y="345256"/>
            <a:ext cx="9968345" cy="766571"/>
          </a:xfrm>
          <a:solidFill>
            <a:schemeClr val="tx1">
              <a:alpha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s-PE" sz="4400" dirty="0">
                <a:solidFill>
                  <a:schemeClr val="bg1"/>
                </a:solidFill>
              </a:rPr>
              <a:t>KPI </a:t>
            </a:r>
            <a:r>
              <a:rPr lang="es-PE" sz="4400" dirty="0" err="1">
                <a:solidFill>
                  <a:schemeClr val="bg1"/>
                </a:solidFill>
              </a:rPr>
              <a:t>Definitions</a:t>
            </a:r>
            <a:r>
              <a:rPr lang="es-PE" sz="4400" dirty="0">
                <a:solidFill>
                  <a:schemeClr val="bg1"/>
                </a:solidFill>
              </a:rPr>
              <a:t> </a:t>
            </a:r>
            <a:r>
              <a:rPr lang="en-US" sz="4400" dirty="0">
                <a:solidFill>
                  <a:schemeClr val="bg1"/>
                </a:solidFill>
              </a:rPr>
              <a:t>(Upper Zone of the Dashboard)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48AEEF-35F9-8D0C-EFE3-69A25013FED6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solidFill>
                  <a:schemeClr val="bg1"/>
                </a:solidFill>
              </a:rPr>
              <a:t>Main KPIs calculated: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Ruler: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Only Attrition Rate is a percentage.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47533F-DB21-A0B4-ACAD-3B1BAA664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035344"/>
              </p:ext>
            </p:extLst>
          </p:nvPr>
        </p:nvGraphicFramePr>
        <p:xfrm>
          <a:off x="1027682" y="2010502"/>
          <a:ext cx="10132358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5923">
                  <a:extLst>
                    <a:ext uri="{9D8B030D-6E8A-4147-A177-3AD203B41FA5}">
                      <a16:colId xmlns:a16="http://schemas.microsoft.com/office/drawing/2014/main" val="2905040849"/>
                    </a:ext>
                  </a:extLst>
                </a:gridCol>
                <a:gridCol w="5056435">
                  <a:extLst>
                    <a:ext uri="{9D8B030D-6E8A-4147-A177-3AD203B41FA5}">
                      <a16:colId xmlns:a16="http://schemas.microsoft.com/office/drawing/2014/main" val="4154399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General Condition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Total Employees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Active Employees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Attrition Count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Attrition Rate (%)</a:t>
                      </a:r>
                    </a:p>
                    <a:p>
                      <a:pPr algn="l"/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Basic Demographics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Average Age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Average Distance From Home</a:t>
                      </a:r>
                    </a:p>
                    <a:p>
                      <a:pPr algn="l"/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Finances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Average Monthly Income</a:t>
                      </a:r>
                    </a:p>
                    <a:p>
                      <a:endParaRPr lang="en-US" sz="16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Work Experience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Average Tenure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Average Total Working Years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Satisfaction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Average Job Satisfaction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Average Work-Life Balance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Average Relationship Satisfaction</a:t>
                      </a:r>
                    </a:p>
                    <a:p>
                      <a:pPr algn="l"/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Growth and Carrer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Average Years Since Last Promotion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Average Years With Current Manager</a:t>
                      </a:r>
                    </a:p>
                    <a:p>
                      <a:endParaRPr lang="en-US" sz="16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979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781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5CEDD-60F5-017D-3AA5-45742378B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10FD-5C1E-01C4-E4E0-1082702F0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934" y="303693"/>
            <a:ext cx="11443854" cy="766571"/>
          </a:xfrm>
          <a:solidFill>
            <a:schemeClr val="tx1">
              <a:alpha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s-PE" sz="4400" dirty="0" err="1">
                <a:solidFill>
                  <a:schemeClr val="bg1"/>
                </a:solidFill>
              </a:rPr>
              <a:t>PivotCHarts</a:t>
            </a:r>
            <a:r>
              <a:rPr lang="es-PE" sz="4400" dirty="0">
                <a:solidFill>
                  <a:schemeClr val="bg1"/>
                </a:solidFill>
              </a:rPr>
              <a:t> Used </a:t>
            </a:r>
            <a:r>
              <a:rPr lang="en-US" sz="4400" dirty="0">
                <a:solidFill>
                  <a:schemeClr val="bg1"/>
                </a:solidFill>
              </a:rPr>
              <a:t>(Central Zone of the Dashboard)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E74057-AE84-FE6D-C11C-A019CD94AB55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solidFill>
                  <a:schemeClr val="bg1"/>
                </a:solidFill>
              </a:rPr>
              <a:t>In the central zone, we placed the four main charts, which best explain attrition behavior at a structural level.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Charts included in the Central Zone: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1. Attrition by Job Role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Shows which roles have the highest turnover.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Identifies critical areas such as Sales and Laboratory Technician.</a:t>
            </a:r>
          </a:p>
          <a:p>
            <a:pPr marL="285750" indent="-285750" algn="l">
              <a:buFontTx/>
              <a:buChar char="-"/>
            </a:pPr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2. Attrition by Department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Compares turnover between Sales, R&amp;D, and HR.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Allows you to see which departments require intervention.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3. Attrition by Education Level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Analyzes whether educational level influences resignation.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Useful for understanding risk profiles.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4. Attrition by Age Band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Shows which age groups resign most frequently.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Generally, young adults (25–34) have higher attrition rates.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These four charts form the core of the dashboard's structural analysis.</a:t>
            </a:r>
          </a:p>
        </p:txBody>
      </p:sp>
    </p:spTree>
    <p:extLst>
      <p:ext uri="{BB962C8B-B14F-4D97-AF65-F5344CB8AC3E}">
        <p14:creationId xmlns:p14="http://schemas.microsoft.com/office/powerpoint/2010/main" val="4056043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FBCEB-F6F0-8C46-77BD-34EA1CC8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C3355-9AA8-47FC-602C-21DC0107C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934" y="303693"/>
            <a:ext cx="11443854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 err="1">
                <a:solidFill>
                  <a:schemeClr val="bg1"/>
                </a:solidFill>
              </a:rPr>
              <a:t>PivotCHarts</a:t>
            </a:r>
            <a:r>
              <a:rPr lang="es-PE" sz="4400" dirty="0">
                <a:solidFill>
                  <a:schemeClr val="bg1"/>
                </a:solidFill>
              </a:rPr>
              <a:t> Used </a:t>
            </a:r>
            <a:r>
              <a:rPr lang="en-US" sz="4400" dirty="0">
                <a:solidFill>
                  <a:schemeClr val="bg1"/>
                </a:solidFill>
              </a:rPr>
              <a:t>(Lower Zone of the Dashboard)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7346D2F-693A-3556-968A-9C1B4C768445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solidFill>
                  <a:schemeClr val="bg1"/>
                </a:solidFill>
              </a:rPr>
              <a:t>In the lower area we placed the graphics that explain the drivers of attrition, that is, the strongest causes.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Charts included in the Lower Zone: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5. Attrition by Overtime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Compares turnover between employees with and without overtime.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Reveals the impact of burnout.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6. Attrition by Distance From Home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Shows if distance influences turnover.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Useful for understanding job mobility.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7. Attrition by Work-Life Balance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Key chart: Low WLB = higher turnover.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One of the strongest drivers.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8. Attrition by Monthly Income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Shows how income affects turnover.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Lower income brackets have higher attrition.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These four charts explain the "why" of attrition.</a:t>
            </a:r>
          </a:p>
        </p:txBody>
      </p:sp>
    </p:spTree>
    <p:extLst>
      <p:ext uri="{BB962C8B-B14F-4D97-AF65-F5344CB8AC3E}">
        <p14:creationId xmlns:p14="http://schemas.microsoft.com/office/powerpoint/2010/main" val="1631256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7194-0BB6-593B-0FF6-764E6684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839A-7EA3-30A6-DCCA-342A8DD27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934" y="303693"/>
            <a:ext cx="11443854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 err="1">
                <a:solidFill>
                  <a:schemeClr val="bg1"/>
                </a:solidFill>
              </a:rPr>
              <a:t>Dashboard</a:t>
            </a:r>
            <a:r>
              <a:rPr lang="es-PE" sz="4400" dirty="0">
                <a:solidFill>
                  <a:schemeClr val="bg1"/>
                </a:solidFill>
              </a:rPr>
              <a:t> </a:t>
            </a:r>
            <a:r>
              <a:rPr lang="es-PE" sz="4400" dirty="0" err="1">
                <a:solidFill>
                  <a:schemeClr val="bg1"/>
                </a:solidFill>
              </a:rPr>
              <a:t>Layout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B0A52-1DD4-4E36-62E5-B51961BB7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879" y="1070264"/>
            <a:ext cx="9190241" cy="549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12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2825D-79D6-ED3D-C1FC-50E537B23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E83B-5DF9-ED9B-DEE8-0D77D86EA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934" y="303693"/>
            <a:ext cx="11443854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>
                <a:solidFill>
                  <a:schemeClr val="bg1"/>
                </a:solidFill>
              </a:rPr>
              <a:t>Key </a:t>
            </a:r>
            <a:r>
              <a:rPr lang="es-PE" sz="4400" dirty="0" err="1">
                <a:solidFill>
                  <a:schemeClr val="bg1"/>
                </a:solidFill>
              </a:rPr>
              <a:t>Insights</a:t>
            </a:r>
            <a:r>
              <a:rPr lang="es-PE" sz="4400" dirty="0">
                <a:solidFill>
                  <a:schemeClr val="bg1"/>
                </a:solidFill>
              </a:rPr>
              <a:t> (Central </a:t>
            </a:r>
            <a:r>
              <a:rPr lang="es-PE" sz="4400" dirty="0" err="1">
                <a:solidFill>
                  <a:schemeClr val="bg1"/>
                </a:solidFill>
              </a:rPr>
              <a:t>Zone</a:t>
            </a:r>
            <a:r>
              <a:rPr lang="es-PE" sz="4400" dirty="0">
                <a:solidFill>
                  <a:schemeClr val="bg1"/>
                </a:solidFill>
              </a:rPr>
              <a:t>)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96BED0E-FFB0-F21C-E82A-9A1CE59C311E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Attrition by Job Role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• Roles such as Sales Executive and Laboratory Technician have the highest turnover.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• Administrative and management roles show lower attrition.</a:t>
            </a:r>
          </a:p>
          <a:p>
            <a:pPr algn="l"/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2. Attrition by Department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• R&amp;D has the highest turnover rate.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• Sales maintains moderate levels.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• HR has the lowest turnover.</a:t>
            </a:r>
          </a:p>
          <a:p>
            <a:pPr algn="l"/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3. Attrition by Education Level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• Employees with a High School Diploma and Associate Degrees are more likely to quit.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• Higher education levels show lower attrition.</a:t>
            </a:r>
          </a:p>
          <a:p>
            <a:pPr algn="l"/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4. Attrition by Age Band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• The 25–34 age group is the most likely to quit.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• Employees over 55 have lower turnover.</a:t>
            </a:r>
          </a:p>
        </p:txBody>
      </p:sp>
    </p:spTree>
    <p:extLst>
      <p:ext uri="{BB962C8B-B14F-4D97-AF65-F5344CB8AC3E}">
        <p14:creationId xmlns:p14="http://schemas.microsoft.com/office/powerpoint/2010/main" val="905701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A7283-B4A9-12FF-9E1F-570E1A8C4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7579C-360A-F870-A733-32716AFC4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934" y="303693"/>
            <a:ext cx="11443854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>
                <a:solidFill>
                  <a:schemeClr val="bg1"/>
                </a:solidFill>
              </a:rPr>
              <a:t>Key </a:t>
            </a:r>
            <a:r>
              <a:rPr lang="es-PE" sz="4400" dirty="0" err="1">
                <a:solidFill>
                  <a:schemeClr val="bg1"/>
                </a:solidFill>
              </a:rPr>
              <a:t>Insights</a:t>
            </a:r>
            <a:r>
              <a:rPr lang="es-PE" sz="4400" dirty="0">
                <a:solidFill>
                  <a:schemeClr val="bg1"/>
                </a:solidFill>
              </a:rPr>
              <a:t> (</a:t>
            </a:r>
            <a:r>
              <a:rPr lang="es-PE" sz="4400" dirty="0" err="1">
                <a:solidFill>
                  <a:schemeClr val="bg1"/>
                </a:solidFill>
              </a:rPr>
              <a:t>Lower</a:t>
            </a:r>
            <a:r>
              <a:rPr lang="es-PE" sz="4400" dirty="0">
                <a:solidFill>
                  <a:schemeClr val="bg1"/>
                </a:solidFill>
              </a:rPr>
              <a:t> </a:t>
            </a:r>
            <a:r>
              <a:rPr lang="es-PE" sz="4400" dirty="0" err="1">
                <a:solidFill>
                  <a:schemeClr val="bg1"/>
                </a:solidFill>
              </a:rPr>
              <a:t>Zone</a:t>
            </a:r>
            <a:r>
              <a:rPr lang="es-PE" sz="4400" dirty="0">
                <a:solidFill>
                  <a:schemeClr val="bg1"/>
                </a:solidFill>
              </a:rPr>
              <a:t>)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83284E3-1ED7-B4D5-A9B6-CD5B65FE8E09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chemeClr val="bg1"/>
                </a:solidFill>
              </a:rPr>
              <a:t>5. Attrition by Overtime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- Employees who work overtime are slightly more likely to quit.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- This indicates that work overload or burnout can intensify the decision to resign.</a:t>
            </a:r>
          </a:p>
          <a:p>
            <a:pPr algn="l"/>
            <a:endParaRPr lang="en-US" sz="2400" dirty="0">
              <a:solidFill>
                <a:schemeClr val="bg1"/>
              </a:solidFill>
            </a:endParaRP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6. Attrition by Distance From Home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- Employees who live closer to work tend to quit more frequently.</a:t>
            </a:r>
          </a:p>
          <a:p>
            <a:pPr algn="l"/>
            <a:endParaRPr lang="en-US" sz="2400" dirty="0">
              <a:solidFill>
                <a:schemeClr val="bg1"/>
              </a:solidFill>
            </a:endParaRP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7. Attrition by Work-Life Balance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- Level 1 (very bad) has the highest quit rate.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- As work-life balance improves, turnover decreases, but the effect is not as pronounced.</a:t>
            </a:r>
          </a:p>
          <a:p>
            <a:pPr algn="l"/>
            <a:endParaRPr lang="en-US" sz="2400" dirty="0">
              <a:solidFill>
                <a:schemeClr val="bg1"/>
              </a:solidFill>
            </a:endParaRP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8. Attrition by Monthly Income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- Lower salary ranges have the highest turnover.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- Above a $11009 income , quit rates decrease.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8E553A-519A-5337-143E-BC1CB5576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B45F13B-5EB9-D50B-37C0-63DAEAFD2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96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81DDA-901C-FA69-4E1E-8940B379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EF609-F36F-37C4-9002-D26A31233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934" y="303693"/>
            <a:ext cx="11443854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 err="1">
                <a:solidFill>
                  <a:schemeClr val="bg1"/>
                </a:solidFill>
              </a:rPr>
              <a:t>Summary</a:t>
            </a:r>
            <a:r>
              <a:rPr lang="es-PE" sz="4400" dirty="0">
                <a:solidFill>
                  <a:schemeClr val="bg1"/>
                </a:solidFill>
              </a:rPr>
              <a:t> </a:t>
            </a:r>
            <a:r>
              <a:rPr lang="es-PE" sz="4400" dirty="0" err="1">
                <a:solidFill>
                  <a:schemeClr val="bg1"/>
                </a:solidFill>
              </a:rPr>
              <a:t>of</a:t>
            </a:r>
            <a:r>
              <a:rPr lang="es-PE" sz="4400" dirty="0">
                <a:solidFill>
                  <a:schemeClr val="bg1"/>
                </a:solidFill>
              </a:rPr>
              <a:t> </a:t>
            </a:r>
            <a:r>
              <a:rPr lang="es-PE" sz="4400" dirty="0" err="1">
                <a:solidFill>
                  <a:schemeClr val="bg1"/>
                </a:solidFill>
              </a:rPr>
              <a:t>Findings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8434A5-B822-1E1B-FF4F-BC88156DBCB9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- The overall attrition rate is 16%.</a:t>
            </a: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- Turnover is concentrated among younger employees (25–34).</a:t>
            </a: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- Sales and technical roles experience higher attrition.</a:t>
            </a: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- Employees with lower incomes resign more frequently.</a:t>
            </a: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- Overtime and work-life balance are critical drivers.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BEB242-EAF8-E91D-BBD4-D9AE636C3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8660074-8FC5-C0C7-3EF9-63BA336C7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587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D8771-EC0E-0054-4B78-79BBF3CDC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E295-10C5-4C2A-636F-FF666D397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934" y="303693"/>
            <a:ext cx="11443854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 err="1">
                <a:solidFill>
                  <a:schemeClr val="bg1"/>
                </a:solidFill>
              </a:rPr>
              <a:t>Conclusions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EDCA299-486C-2667-805F-01F437258822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solidFill>
                  <a:schemeClr val="bg1"/>
                </a:solidFill>
              </a:rPr>
              <a:t>Conclusion 1 — Critical Factors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Attrition is strongly influenced by: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Monthly Income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Job Role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Age Band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Education Level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Conclusion 2 — Risks Identified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Young employees, those with low incomes, and those in operational roles are the most likely to resign.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Conclusion 3 — Opportunities for Improvement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Review workloads (Overtime)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Improve Work-Life Balance policies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Adjust low salary bands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Design retention plans for critical roles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Conclusion 4 — Value of the Dashboard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The dashboard allows you to: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Identify critical segments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Analyze causes of resignation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Make data-driven decisions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- Communicate insights clearly and visually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20EBE0-B3CA-422D-74D1-50476A382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4DD984-B0DC-9EE8-1A0A-A4E31A779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51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7350-A100-BA48-7EF8-9BA4C2C84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52D7-0369-72FD-C8D4-6DDD70521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934" y="303693"/>
            <a:ext cx="11443854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>
                <a:solidFill>
                  <a:schemeClr val="bg1"/>
                </a:solidFill>
              </a:rPr>
              <a:t>Next </a:t>
            </a:r>
            <a:r>
              <a:rPr lang="es-PE" sz="4400" dirty="0" err="1">
                <a:solidFill>
                  <a:schemeClr val="bg1"/>
                </a:solidFill>
              </a:rPr>
              <a:t>Steps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EC2EDA-6510-EC00-A46A-4D5DC9454E8F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Future Project Improvements</a:t>
            </a: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- Migrate the dashboard to Power BI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- Create a predictive attrition model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- Add cohort analysis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- Integrate real company data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- Automate dashboard updates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1DC09B-6B5A-953B-EBFD-5587203C6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D57C2BC-BEA4-D3D3-C4A0-5AFC3B97B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6" name="Picture 4" descr="When did you first discover My Hero Academia, and How Did it change your  Life : r/BokuNoHeroAcademia">
            <a:extLst>
              <a:ext uri="{FF2B5EF4-FFF2-40B4-BE49-F238E27FC236}">
                <a16:creationId xmlns:a16="http://schemas.microsoft.com/office/drawing/2014/main" id="{E404BB2F-BAB9-EA4F-054C-39A87F20B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29" y="2848309"/>
            <a:ext cx="4432661" cy="2351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932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001F1-FCF1-CE4C-AFF9-4F1456D73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15F0C-0A9F-95FF-5621-A49ED8E5F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934" y="303693"/>
            <a:ext cx="11443854" cy="766571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r>
              <a:rPr lang="es-PE" sz="4400" dirty="0" err="1">
                <a:solidFill>
                  <a:schemeClr val="bg1"/>
                </a:solidFill>
              </a:rPr>
              <a:t>Finally</a:t>
            </a:r>
            <a:r>
              <a:rPr lang="es-PE" sz="4400" dirty="0">
                <a:solidFill>
                  <a:schemeClr val="bg1"/>
                </a:solidFill>
              </a:rPr>
              <a:t>…..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31F67B-32E3-5CC2-1825-DAA7D1B06153}"/>
              </a:ext>
            </a:extLst>
          </p:cNvPr>
          <p:cNvSpPr txBox="1">
            <a:spLocks/>
          </p:cNvSpPr>
          <p:nvPr/>
        </p:nvSpPr>
        <p:spPr>
          <a:xfrm>
            <a:off x="830459" y="1525108"/>
            <a:ext cx="10526805" cy="471982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611FAE-A479-8CCD-A480-0F6C3B4D8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3DC0579-D2E7-CDD4-66FC-DC46F5C58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4" name="Picture 4" descr="Thanks for watching my presentation - Kermit Drinking Tea Meme Generator">
            <a:extLst>
              <a:ext uri="{FF2B5EF4-FFF2-40B4-BE49-F238E27FC236}">
                <a16:creationId xmlns:a16="http://schemas.microsoft.com/office/drawing/2014/main" id="{08A21E06-A2B6-D771-CB0C-D77995CA21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9"/>
          <a:stretch>
            <a:fillRect/>
          </a:stretch>
        </p:blipFill>
        <p:spPr bwMode="auto">
          <a:xfrm>
            <a:off x="3097024" y="2108156"/>
            <a:ext cx="5715000" cy="3683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472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1117</Words>
  <Application>Microsoft Office PowerPoint</Application>
  <PresentationFormat>Widescreen</PresentationFormat>
  <Paragraphs>277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Roboto</vt:lpstr>
      <vt:lpstr>Office Theme</vt:lpstr>
      <vt:lpstr>CarlosFloresDA Project #1</vt:lpstr>
      <vt:lpstr>Project Objective</vt:lpstr>
      <vt:lpstr>Business Problem</vt:lpstr>
      <vt:lpstr>Dataset Used</vt:lpstr>
      <vt:lpstr>Data Preparation</vt:lpstr>
      <vt:lpstr>KPI Definitions (Upper Zone of the Dashboard)</vt:lpstr>
      <vt:lpstr>PivotCHarts Used (Central Zone of the Dashboard)</vt:lpstr>
      <vt:lpstr>PivotCHarts Used (Lower Zone of the Dashboard)</vt:lpstr>
      <vt:lpstr>Dashboard Layout</vt:lpstr>
      <vt:lpstr>Key Insights (Central Zone)</vt:lpstr>
      <vt:lpstr>Key Insights (Lower Zone)</vt:lpstr>
      <vt:lpstr>Summary of Findings</vt:lpstr>
      <vt:lpstr>Conclusions</vt:lpstr>
      <vt:lpstr>Next Steps</vt:lpstr>
      <vt:lpstr>Finally…..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Flores</dc:creator>
  <cp:lastModifiedBy>Carlos Flores</cp:lastModifiedBy>
  <cp:revision>3</cp:revision>
  <dcterms:created xsi:type="dcterms:W3CDTF">2026-03-09T01:40:57Z</dcterms:created>
  <dcterms:modified xsi:type="dcterms:W3CDTF">2026-03-10T02:30:48Z</dcterms:modified>
</cp:coreProperties>
</file>